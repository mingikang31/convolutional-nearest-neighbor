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Gowun Batang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owunBatang-bold.fntdata"/><Relationship Id="rId27" Type="http://schemas.openxmlformats.org/officeDocument/2006/relationships/font" Target="fonts/GowunBatang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e28b701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e28b701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ae28b70101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ae28b70101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e28b70101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e28b70101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e67352b8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e67352b8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189a4369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189a4369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e28b70101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e28b70101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e28b70101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e28b70101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17a9716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17a9716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04f6035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04f6035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189a436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189a436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b04f60358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b04f60358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189a4369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9189a4369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04f6035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04f6035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b047340af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b047340af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9189a4369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9189a4369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9189a4369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9189a4369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b04f60358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b04f60358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slide, just explain shortly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e28b70101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e28b70101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e28b70101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e28b70101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e28b70101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ae28b70101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with header and footer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60" name="Google Shape;60;p14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5" type="body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6" type="body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7" type="body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68" name="Google Shape;68;p1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28600" y="2866225"/>
            <a:ext cx="62328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74" name="Google Shape;74;p1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79" name="Google Shape;79;p17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te sheet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2" type="subTitle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86" name="Google Shape;86;p18"/>
          <p:cNvSpPr txBox="1"/>
          <p:nvPr>
            <p:ph idx="3" type="subTitle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87" name="Google Shape;87;p18"/>
          <p:cNvSpPr txBox="1"/>
          <p:nvPr>
            <p:ph idx="4" type="subTitle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88" name="Google Shape;88;p1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ith footer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4" name="Google Shape;94;p19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6" name="Google Shape;96;p19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98" name="Google Shape;98;p19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99" name="Google Shape;99;p1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ITLE_AND_TWO_COLUMNS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05" name="Google Shape;105;p20"/>
          <p:cNvSpPr txBox="1"/>
          <p:nvPr>
            <p:ph idx="3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4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07" name="Google Shape;107;p20"/>
          <p:cNvSpPr txBox="1"/>
          <p:nvPr>
            <p:ph idx="5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6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109" name="Google Shape;109;p2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TITLE_AND_TWO_COLUMNS_1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13" name="Google Shape;113;p2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5" type="subTitle"/>
          </p:nvPr>
        </p:nvSpPr>
        <p:spPr>
          <a:xfrm>
            <a:off x="22945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19" name="Google Shape;119;p21"/>
          <p:cNvSpPr txBox="1"/>
          <p:nvPr>
            <p:ph idx="6" type="subTitle"/>
          </p:nvPr>
        </p:nvSpPr>
        <p:spPr>
          <a:xfrm>
            <a:off x="24003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20" name="Google Shape;120;p21"/>
          <p:cNvSpPr txBox="1"/>
          <p:nvPr>
            <p:ph idx="7" type="subTitle"/>
          </p:nvPr>
        </p:nvSpPr>
        <p:spPr>
          <a:xfrm>
            <a:off x="45720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121" name="Google Shape;121;p21"/>
          <p:cNvSpPr txBox="1"/>
          <p:nvPr>
            <p:ph idx="8" type="subTitle"/>
          </p:nvPr>
        </p:nvSpPr>
        <p:spPr>
          <a:xfrm>
            <a:off x="6743700" y="2123775"/>
            <a:ext cx="1889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TWO_COLUMNS_1_2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2"/>
          <p:cNvSpPr txBox="1"/>
          <p:nvPr>
            <p:ph type="title"/>
          </p:nvPr>
        </p:nvSpPr>
        <p:spPr>
          <a:xfrm>
            <a:off x="229450" y="164350"/>
            <a:ext cx="5541900" cy="18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cxnSp>
        <p:nvCxnSpPr>
          <p:cNvPr id="125" name="Google Shape;125;p2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228600" y="2448075"/>
            <a:ext cx="55419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2" type="subTitle"/>
          </p:nvPr>
        </p:nvSpPr>
        <p:spPr>
          <a:xfrm>
            <a:off x="228600" y="1798275"/>
            <a:ext cx="55419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ITLE_AND_TWO_COLUMNS_1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3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2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cxnSp>
        <p:nvCxnSpPr>
          <p:cNvPr id="133" name="Google Shape;133;p2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3"/>
          <p:cNvSpPr txBox="1"/>
          <p:nvPr>
            <p:ph idx="3" type="body"/>
          </p:nvPr>
        </p:nvSpPr>
        <p:spPr>
          <a:xfrm>
            <a:off x="4573675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4573675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ody text">
  <p:cSld name="CUSTOM_3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4"/>
          <p:cNvSpPr txBox="1"/>
          <p:nvPr>
            <p:ph idx="2" type="body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3" type="body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42" name="Google Shape;142;p2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5"/>
          <p:cNvSpPr txBox="1"/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4" type="body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5" type="body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51" name="Google Shape;151;p2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text">
  <p:cSld name="TITLE_ONLY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5" name="Google Shape;155;p26"/>
          <p:cNvSpPr txBox="1"/>
          <p:nvPr>
            <p:ph idx="2" type="body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6" name="Google Shape;156;p26"/>
          <p:cNvSpPr txBox="1"/>
          <p:nvPr>
            <p:ph idx="3" type="body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4" type="body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5" type="subTitle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6" type="subTitle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7" type="subTitle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8" type="subTitle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9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63" name="Google Shape;163;p2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14568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2" type="subTitle"/>
          </p:nvPr>
        </p:nvSpPr>
        <p:spPr>
          <a:xfrm>
            <a:off x="362815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8" name="Google Shape;168;p27"/>
          <p:cNvSpPr txBox="1"/>
          <p:nvPr>
            <p:ph idx="3" type="subTitle"/>
          </p:nvPr>
        </p:nvSpPr>
        <p:spPr>
          <a:xfrm>
            <a:off x="5799500" y="1790719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9" name="Google Shape;169;p27"/>
          <p:cNvSpPr txBox="1"/>
          <p:nvPr>
            <p:ph idx="4" type="subTitle"/>
          </p:nvPr>
        </p:nvSpPr>
        <p:spPr>
          <a:xfrm>
            <a:off x="57995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70" name="Google Shape;170;p2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7"/>
          <p:cNvSpPr txBox="1"/>
          <p:nvPr>
            <p:ph idx="5" type="subTitle"/>
          </p:nvPr>
        </p:nvSpPr>
        <p:spPr>
          <a:xfrm>
            <a:off x="145680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6" type="subTitle"/>
          </p:nvPr>
        </p:nvSpPr>
        <p:spPr>
          <a:xfrm>
            <a:off x="3628150" y="3234832"/>
            <a:ext cx="1889400" cy="10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5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8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79" name="Google Shape;179;p28"/>
          <p:cNvSpPr txBox="1"/>
          <p:nvPr>
            <p:ph idx="3" type="body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4" type="body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5" type="subTitle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6" type="subTitle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184" name="Google Shape;184;p2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footer">
  <p:cSld name="CUSTOM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89" name="Google Shape;189;p2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CUSTOM_10"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2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4" name="Google Shape;194;p3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9" name="Google Shape;199;p3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31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with footer">
  <p:cSld name="CUSTOM_7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2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32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06" name="Google Shape;206;p3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7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3"/>
          <p:cNvSpPr/>
          <p:nvPr/>
        </p:nvSpPr>
        <p:spPr>
          <a:xfrm>
            <a:off x="7005675" y="789050"/>
            <a:ext cx="1582800" cy="158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33"/>
          <p:cNvSpPr/>
          <p:nvPr>
            <p:ph idx="2" type="pic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12" name="Google Shape;212;p3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8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4"/>
          <p:cNvSpPr txBox="1"/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17" name="Google Shape;217;p3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8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0" name="Google Shape;220;p3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" name="Google Shape;221;p35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8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4" name="Google Shape;224;p3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6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with footer">
  <p:cSld name="ONE_COLUMN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37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29" name="Google Shape;229;p37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31" name="Google Shape;231;p3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ONE_COLUMN_TEXT_2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38"/>
          <p:cNvSpPr txBox="1"/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35" name="Google Shape;235;p38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236" name="Google Shape;236;p3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ONE_COLUMN_TEXT_1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9"/>
          <p:cNvSpPr txBox="1"/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40" name="Google Shape;240;p39"/>
          <p:cNvSpPr txBox="1"/>
          <p:nvPr>
            <p:ph idx="1" type="subTitle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2" type="subTitle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2000"/>
              <a:buNone/>
              <a:defRPr b="1"/>
            </a:lvl9pPr>
          </a:lstStyle>
          <a:p/>
        </p:txBody>
      </p:sp>
      <p:sp>
        <p:nvSpPr>
          <p:cNvPr id="242" name="Google Shape;242;p3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43" name="Google Shape;243;p3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footer">
  <p:cSld name="CUSTOM_4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40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4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1"/>
          <p:cNvSpPr txBox="1"/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2" type="body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56" name="Google Shape;256;p41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image boards">
  <p:cSld name="CUSTOM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42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0" name="Google Shape;260;p42"/>
          <p:cNvSpPr/>
          <p:nvPr>
            <p:ph idx="2" type="pic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2"/>
          <p:cNvSpPr/>
          <p:nvPr>
            <p:ph idx="3" type="pic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2"/>
          <p:cNvSpPr/>
          <p:nvPr>
            <p:ph idx="4" type="pic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2"/>
          <p:cNvSpPr/>
          <p:nvPr>
            <p:ph idx="5" type="pic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6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5" name="Google Shape;265;p42"/>
          <p:cNvSpPr txBox="1"/>
          <p:nvPr>
            <p:ph idx="7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66" name="Google Shape;266;p42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 boards">
  <p:cSld name="CUSTOM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43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70" name="Google Shape;270;p43"/>
          <p:cNvSpPr/>
          <p:nvPr>
            <p:ph idx="2" type="pic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3"/>
          <p:cNvSpPr/>
          <p:nvPr>
            <p:ph idx="3" type="pic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43"/>
          <p:cNvSpPr/>
          <p:nvPr>
            <p:ph idx="4" type="pic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3"/>
          <p:cNvSpPr txBox="1"/>
          <p:nvPr>
            <p:ph idx="5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74" name="Google Shape;274;p43"/>
          <p:cNvSpPr txBox="1"/>
          <p:nvPr>
            <p:ph idx="6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75" name="Google Shape;275;p4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">
  <p:cSld name="CUSTOM_1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44"/>
          <p:cNvSpPr txBox="1"/>
          <p:nvPr>
            <p:ph idx="1" type="subTitle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79" name="Google Shape;279;p44"/>
          <p:cNvSpPr/>
          <p:nvPr>
            <p:ph idx="2" type="pic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4"/>
          <p:cNvSpPr/>
          <p:nvPr>
            <p:ph idx="3" type="pic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44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5" type="body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83" name="Google Shape;283;p4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boards vertical">
  <p:cSld name="CUSTOM_1_1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/>
          <p:nvPr>
            <p:ph idx="2" type="pic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5"/>
          <p:cNvSpPr/>
          <p:nvPr>
            <p:ph idx="3" type="pic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4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9" name="Google Shape;289;p45"/>
          <p:cNvSpPr txBox="1"/>
          <p:nvPr>
            <p:ph idx="4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0" name="Google Shape;290;p45"/>
          <p:cNvSpPr txBox="1"/>
          <p:nvPr>
            <p:ph idx="5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291" name="Google Shape;291;p4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4" name="Google Shape;29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square image board">
  <p:cSld name="CUSTOM_1_1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/>
          <p:nvPr>
            <p:ph idx="2" type="pic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47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99" name="Google Shape;299;p4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0" name="Google Shape;300;p47"/>
          <p:cNvSpPr txBox="1"/>
          <p:nvPr>
            <p:ph idx="4" type="body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01" name="Google Shape;301;p4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andscape image board">
  <p:cSld name="CUSTOM_1_1_1_1_1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>
            <p:ph idx="1" type="subTitle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06" name="Google Shape;306;p4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7" name="Google Shape;307;p48"/>
          <p:cNvSpPr txBox="1"/>
          <p:nvPr>
            <p:ph idx="4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08" name="Google Shape;308;p4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CUSTOM_1_1_1_1_1_1_2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/>
          <p:nvPr>
            <p:ph idx="2" type="pic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4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13" name="Google Shape;313;p49"/>
          <p:cNvSpPr txBox="1"/>
          <p:nvPr>
            <p:ph idx="3" type="body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14" name="Google Shape;314;p4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49"/>
          <p:cNvSpPr txBox="1"/>
          <p:nvPr>
            <p:ph type="title"/>
          </p:nvPr>
        </p:nvSpPr>
        <p:spPr>
          <a:xfrm>
            <a:off x="228600" y="164350"/>
            <a:ext cx="26703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9" name="Google Shape;31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_2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9" name="Google Shape;329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3"/>
          <p:cNvSpPr/>
          <p:nvPr>
            <p:ph idx="2" type="pic"/>
          </p:nvPr>
        </p:nvSpPr>
        <p:spPr>
          <a:xfrm>
            <a:off x="463305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3"/>
          <p:cNvSpPr/>
          <p:nvPr>
            <p:ph idx="3" type="pic"/>
          </p:nvPr>
        </p:nvSpPr>
        <p:spPr>
          <a:xfrm>
            <a:off x="228600" y="1196050"/>
            <a:ext cx="4282500" cy="1761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5" name="Google Shape;335;p53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53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2294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8" name="Google Shape;338;p53"/>
          <p:cNvSpPr txBox="1"/>
          <p:nvPr>
            <p:ph idx="4" type="subTitle"/>
          </p:nvPr>
        </p:nvSpPr>
        <p:spPr>
          <a:xfrm>
            <a:off x="2294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39" name="Google Shape;339;p53"/>
          <p:cNvSpPr txBox="1"/>
          <p:nvPr>
            <p:ph idx="5" type="body"/>
          </p:nvPr>
        </p:nvSpPr>
        <p:spPr>
          <a:xfrm>
            <a:off x="4633050" y="3455950"/>
            <a:ext cx="4061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0" name="Google Shape;340;p53"/>
          <p:cNvSpPr txBox="1"/>
          <p:nvPr>
            <p:ph idx="6" type="subTitle"/>
          </p:nvPr>
        </p:nvSpPr>
        <p:spPr>
          <a:xfrm>
            <a:off x="4633050" y="3127850"/>
            <a:ext cx="4061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1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3" name="Google Shape;343;p54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54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54"/>
          <p:cNvSpPr/>
          <p:nvPr>
            <p:ph idx="2" type="pic"/>
          </p:nvPr>
        </p:nvSpPr>
        <p:spPr>
          <a:xfrm>
            <a:off x="2286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54"/>
          <p:cNvSpPr/>
          <p:nvPr>
            <p:ph idx="3" type="pic"/>
          </p:nvPr>
        </p:nvSpPr>
        <p:spPr>
          <a:xfrm>
            <a:off x="31618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54"/>
          <p:cNvSpPr/>
          <p:nvPr>
            <p:ph idx="4" type="pic"/>
          </p:nvPr>
        </p:nvSpPr>
        <p:spPr>
          <a:xfrm>
            <a:off x="6095000" y="1196050"/>
            <a:ext cx="2820300" cy="17610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9" name="Google Shape;349;p54"/>
          <p:cNvSpPr txBox="1"/>
          <p:nvPr>
            <p:ph idx="5" type="subTitle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50" name="Google Shape;350;p54"/>
          <p:cNvSpPr txBox="1"/>
          <p:nvPr>
            <p:ph idx="6" type="body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1" name="Google Shape;351;p54"/>
          <p:cNvSpPr txBox="1"/>
          <p:nvPr>
            <p:ph idx="7" type="subTitle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  <p:sp>
        <p:nvSpPr>
          <p:cNvPr id="352" name="Google Shape;352;p54"/>
          <p:cNvSpPr txBox="1"/>
          <p:nvPr>
            <p:ph idx="8" type="body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53" name="Google Shape;353;p54"/>
          <p:cNvSpPr txBox="1"/>
          <p:nvPr>
            <p:ph idx="9" type="subTitle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with footer">
  <p:cSld name="CUSTOM_1_1_1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5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5"/>
          <p:cNvSpPr txBox="1"/>
          <p:nvPr>
            <p:ph idx="1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58" name="Google Shape;358;p55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"/>
          <p:cNvSpPr/>
          <p:nvPr>
            <p:ph idx="2" type="pic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2" name="Google Shape;362;p56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5" name="Google Shape;365;p57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57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57"/>
          <p:cNvSpPr/>
          <p:nvPr>
            <p:ph idx="2" type="pic"/>
          </p:nvPr>
        </p:nvSpPr>
        <p:spPr>
          <a:xfrm>
            <a:off x="228600" y="2598025"/>
            <a:ext cx="20244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57"/>
          <p:cNvSpPr/>
          <p:nvPr>
            <p:ph idx="3" type="pic"/>
          </p:nvPr>
        </p:nvSpPr>
        <p:spPr>
          <a:xfrm>
            <a:off x="3864875" y="2598025"/>
            <a:ext cx="35619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7"/>
          <p:cNvSpPr/>
          <p:nvPr>
            <p:ph idx="4" type="pic"/>
          </p:nvPr>
        </p:nvSpPr>
        <p:spPr>
          <a:xfrm>
            <a:off x="7547700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57"/>
          <p:cNvSpPr/>
          <p:nvPr>
            <p:ph idx="5" type="pic"/>
          </p:nvPr>
        </p:nvSpPr>
        <p:spPr>
          <a:xfrm>
            <a:off x="2375088" y="2598025"/>
            <a:ext cx="1367700" cy="18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57"/>
          <p:cNvSpPr/>
          <p:nvPr>
            <p:ph idx="6" type="pic"/>
          </p:nvPr>
        </p:nvSpPr>
        <p:spPr>
          <a:xfrm>
            <a:off x="228600" y="1038850"/>
            <a:ext cx="10035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7"/>
          <p:cNvSpPr/>
          <p:nvPr>
            <p:ph idx="7" type="pic"/>
          </p:nvPr>
        </p:nvSpPr>
        <p:spPr>
          <a:xfrm>
            <a:off x="6745975" y="1038850"/>
            <a:ext cx="21696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7"/>
          <p:cNvSpPr/>
          <p:nvPr>
            <p:ph idx="8" type="pic"/>
          </p:nvPr>
        </p:nvSpPr>
        <p:spPr>
          <a:xfrm>
            <a:off x="1354150" y="1038850"/>
            <a:ext cx="15024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7"/>
          <p:cNvSpPr/>
          <p:nvPr>
            <p:ph idx="9" type="pic"/>
          </p:nvPr>
        </p:nvSpPr>
        <p:spPr>
          <a:xfrm>
            <a:off x="2981410" y="1038850"/>
            <a:ext cx="2196300" cy="145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7"/>
          <p:cNvSpPr/>
          <p:nvPr>
            <p:ph idx="13" type="pic"/>
          </p:nvPr>
        </p:nvSpPr>
        <p:spPr>
          <a:xfrm>
            <a:off x="5311004" y="1038850"/>
            <a:ext cx="1301700" cy="145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CUSTOM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8"/>
          <p:cNvSpPr/>
          <p:nvPr>
            <p:ph idx="2" type="pic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58"/>
          <p:cNvSpPr txBox="1"/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58"/>
          <p:cNvSpPr txBox="1"/>
          <p:nvPr>
            <p:ph idx="1" type="subTitle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1" name="Google Shape;381;p5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cxnSp>
        <p:nvCxnSpPr>
          <p:cNvPr id="382" name="Google Shape;382;p58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5" name="Google Shape;385;p59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9"/>
          <p:cNvSpPr txBox="1"/>
          <p:nvPr>
            <p:ph hasCustomPrompt="1" type="title"/>
          </p:nvPr>
        </p:nvSpPr>
        <p:spPr>
          <a:xfrm>
            <a:off x="225750" y="1212350"/>
            <a:ext cx="8606700" cy="43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9pPr>
          </a:lstStyle>
          <a:p>
            <a:r>
              <a:t>xx%</a:t>
            </a:r>
          </a:p>
        </p:txBody>
      </p:sp>
      <p:cxnSp>
        <p:nvCxnSpPr>
          <p:cNvPr id="387" name="Google Shape;387;p59"/>
          <p:cNvCxnSpPr/>
          <p:nvPr/>
        </p:nvCxnSpPr>
        <p:spPr>
          <a:xfrm flipH="1" rot="10800000">
            <a:off x="225750" y="12123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59"/>
          <p:cNvSpPr txBox="1"/>
          <p:nvPr>
            <p:ph idx="1" type="body"/>
          </p:nvPr>
        </p:nvSpPr>
        <p:spPr>
          <a:xfrm>
            <a:off x="228600" y="578150"/>
            <a:ext cx="8692500" cy="63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_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60"/>
          <p:cNvCxnSpPr/>
          <p:nvPr/>
        </p:nvCxnSpPr>
        <p:spPr>
          <a:xfrm flipH="1" rot="10800000">
            <a:off x="225750" y="4678950"/>
            <a:ext cx="86925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60"/>
          <p:cNvSpPr txBox="1"/>
          <p:nvPr>
            <p:ph idx="1" type="body"/>
          </p:nvPr>
        </p:nvSpPr>
        <p:spPr>
          <a:xfrm>
            <a:off x="228600" y="3719575"/>
            <a:ext cx="3942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9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owun Batang"/>
              <a:buNone/>
              <a:defRPr sz="36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wun Batang"/>
              <a:buNone/>
              <a:defRPr sz="28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2947825"/>
            <a:ext cx="85206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●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○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owun Batang"/>
              <a:buChar char="■"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5616">
          <p15:clr>
            <a:srgbClr val="E46962"/>
          </p15:clr>
        </p15:guide>
        <p15:guide id="3" orient="horz" pos="1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mkang2@bowdoin.edu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sbreach.com/convolution-neural-network-deep-learning/" TargetMode="External"/><Relationship Id="rId4" Type="http://schemas.openxmlformats.org/officeDocument/2006/relationships/hyperlink" Target="https://www.analyticsvidhya.com/blog/2024/04/understanding-transformers-a-deep-dive-into-nlps-core-technology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superannotate.com/blog/guide-to-convolutional-neural-networks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ewsletter.theaiedge.io/p/understanding-the-self-attention" TargetMode="External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mkang2@bowdoin.edu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mkang2@bowdoin.edu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38.png"/><Relationship Id="rId5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5.png"/><Relationship Id="rId11" Type="http://schemas.openxmlformats.org/officeDocument/2006/relationships/image" Target="../media/image21.png"/><Relationship Id="rId10" Type="http://schemas.openxmlformats.org/officeDocument/2006/relationships/image" Target="../media/image27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s.toronto.edu/~kriz/cifar.html" TargetMode="External"/><Relationship Id="rId4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medium.com/@siddheshb008/vgg-net-architecture-explained-71179310050f" TargetMode="External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edium.com/@RobuRishabh/vision-transformer-vit-39f627d04b2a" TargetMode="External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mkang2@bowdoin.edu" TargetMode="External"/><Relationship Id="rId4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mkang2@bowdoin.edu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rxiv.org/abs/2511.14137" TargetMode="External"/><Relationship Id="rId4" Type="http://schemas.openxmlformats.org/officeDocument/2006/relationships/hyperlink" Target="mailto:mkang2@bowdoin.edu" TargetMode="External"/><Relationship Id="rId5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mkang2@bowdoin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</p:txBody>
      </p:sp>
      <p:sp>
        <p:nvSpPr>
          <p:cNvPr id="399" name="Google Shape;399;p62"/>
          <p:cNvSpPr txBox="1"/>
          <p:nvPr>
            <p:ph type="title"/>
          </p:nvPr>
        </p:nvSpPr>
        <p:spPr>
          <a:xfrm>
            <a:off x="228600" y="1909750"/>
            <a:ext cx="8686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Via Convolutional Nearest Neighbors</a:t>
            </a:r>
            <a:endParaRPr/>
          </a:p>
        </p:txBody>
      </p:sp>
      <p:sp>
        <p:nvSpPr>
          <p:cNvPr id="400" name="Google Shape;400;p62"/>
          <p:cNvSpPr txBox="1"/>
          <p:nvPr>
            <p:ph idx="1" type="body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Bowdoin 2026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Jeová Farias Sales Rocha Neto</a:t>
            </a:r>
            <a:endParaRPr/>
          </a:p>
        </p:txBody>
      </p:sp>
      <p:sp>
        <p:nvSpPr>
          <p:cNvPr id="401" name="Google Shape;401;p62"/>
          <p:cNvSpPr txBox="1"/>
          <p:nvPr>
            <p:ph idx="4" type="body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 Honors Presentation</a:t>
            </a:r>
            <a:endParaRPr/>
          </a:p>
        </p:txBody>
      </p:sp>
      <p:sp>
        <p:nvSpPr>
          <p:cNvPr id="402" name="Google Shape;402;p6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8" name="Google Shape;408;p63"/>
          <p:cNvSpPr txBox="1"/>
          <p:nvPr>
            <p:ph idx="1" type="subTitle"/>
          </p:nvPr>
        </p:nvSpPr>
        <p:spPr>
          <a:xfrm>
            <a:off x="228600" y="164350"/>
            <a:ext cx="72891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409" name="Google Shape;409;p63"/>
          <p:cNvSpPr txBox="1"/>
          <p:nvPr>
            <p:ph idx="4" type="body"/>
          </p:nvPr>
        </p:nvSpPr>
        <p:spPr>
          <a:xfrm>
            <a:off x="228600" y="4679000"/>
            <a:ext cx="85311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https://developersbreach.com/convolution-neural-network-deep-learning/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https://www.analyticsvidhya.com/blog/2024/04/understanding-transformers-a-deep-dive-into-nlps-core-technology/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3"/>
          <p:cNvSpPr txBox="1"/>
          <p:nvPr>
            <p:ph idx="5" type="body"/>
          </p:nvPr>
        </p:nvSpPr>
        <p:spPr>
          <a:xfrm>
            <a:off x="228600" y="593650"/>
            <a:ext cx="4914300" cy="9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CNNs and Transformers are the most used architectures across vision and language tasks.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But, how do their core operations: convolution and self attention, relate to each other?</a:t>
            </a:r>
            <a:endParaRPr sz="1100"/>
          </a:p>
        </p:txBody>
      </p:sp>
      <p:pic>
        <p:nvPicPr>
          <p:cNvPr id="411" name="Google Shape;411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9050" y="1617150"/>
            <a:ext cx="4282500" cy="2097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412" name="Google Shape;412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6675" y="1617150"/>
            <a:ext cx="4282501" cy="2097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13" name="Google Shape;413;p63"/>
          <p:cNvSpPr txBox="1"/>
          <p:nvPr>
            <p:ph idx="1" type="subTitle"/>
          </p:nvPr>
        </p:nvSpPr>
        <p:spPr>
          <a:xfrm>
            <a:off x="259050" y="3902675"/>
            <a:ext cx="42825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Convolutional Neural Network (CNN)</a:t>
            </a:r>
            <a:endParaRPr sz="1900"/>
          </a:p>
        </p:txBody>
      </p:sp>
      <p:sp>
        <p:nvSpPr>
          <p:cNvPr id="414" name="Google Shape;414;p63"/>
          <p:cNvSpPr txBox="1"/>
          <p:nvPr>
            <p:ph idx="1" type="subTitle"/>
          </p:nvPr>
        </p:nvSpPr>
        <p:spPr>
          <a:xfrm>
            <a:off x="4646675" y="3902675"/>
            <a:ext cx="42825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Transformer Architecture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64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Convolution</a:t>
            </a:r>
            <a:endParaRPr/>
          </a:p>
        </p:txBody>
      </p:sp>
      <p:sp>
        <p:nvSpPr>
          <p:cNvPr id="421" name="Google Shape;421;p64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https://www.superannotate.com/blog/guide-to-convolutional-neural-networks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64"/>
          <p:cNvSpPr txBox="1"/>
          <p:nvPr>
            <p:ph idx="4" type="body"/>
          </p:nvPr>
        </p:nvSpPr>
        <p:spPr>
          <a:xfrm>
            <a:off x="228600" y="593650"/>
            <a:ext cx="2604300" cy="3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Convolutions captures </a:t>
            </a:r>
            <a:r>
              <a:rPr b="1" lang="en" sz="1100"/>
              <a:t>local spatial structure</a:t>
            </a:r>
            <a:r>
              <a:rPr lang="en" sz="1100"/>
              <a:t> by design.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Kernels slide across the input, learning patterns within a fixed neighborhood of pixels.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This </a:t>
            </a:r>
            <a:r>
              <a:rPr b="1" lang="en" sz="1100"/>
              <a:t>spatial locality bias</a:t>
            </a:r>
            <a:r>
              <a:rPr lang="en" sz="1100"/>
              <a:t> makes convolution powerful for images, videos, and other data with strong local correlations. </a:t>
            </a:r>
            <a:endParaRPr sz="1100"/>
          </a:p>
        </p:txBody>
      </p:sp>
      <p:pic>
        <p:nvPicPr>
          <p:cNvPr id="423" name="Google Shape;42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955" y="593651"/>
            <a:ext cx="5915219" cy="3691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65"/>
          <p:cNvSpPr txBox="1"/>
          <p:nvPr>
            <p:ph idx="1" type="subTitle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Self-Attention</a:t>
            </a:r>
            <a:endParaRPr/>
          </a:p>
        </p:txBody>
      </p:sp>
      <p:sp>
        <p:nvSpPr>
          <p:cNvPr id="430" name="Google Shape;430;p6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https://newsletter.theaiedge.io/p/understanding-the-self-attention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5"/>
          <p:cNvSpPr txBox="1"/>
          <p:nvPr>
            <p:ph idx="4" type="body"/>
          </p:nvPr>
        </p:nvSpPr>
        <p:spPr>
          <a:xfrm>
            <a:off x="228600" y="593650"/>
            <a:ext cx="2171400" cy="3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Self-Attention (Vaswani et al. 2017) </a:t>
            </a:r>
            <a:r>
              <a:rPr lang="en" sz="1100"/>
              <a:t>transforms inputs into </a:t>
            </a:r>
            <a:r>
              <a:rPr b="1" lang="en" sz="1100"/>
              <a:t>Query (Q), Key (K), and Value (V)</a:t>
            </a:r>
            <a:r>
              <a:rPr lang="en" sz="1100"/>
              <a:t>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br>
              <a:rPr lang="en" sz="1100"/>
            </a:br>
            <a:r>
              <a:rPr lang="en" sz="1100"/>
              <a:t>Attention Weights determines which positions to attend to based on learned feature similarity.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This enables </a:t>
            </a:r>
            <a:r>
              <a:rPr b="1" lang="en" sz="1100"/>
              <a:t>global receptive fields </a:t>
            </a:r>
            <a:r>
              <a:rPr lang="en" sz="1100"/>
              <a:t>where each token can aggregate information from any other position. </a:t>
            </a:r>
            <a:endParaRPr sz="1100"/>
          </a:p>
        </p:txBody>
      </p:sp>
      <p:pic>
        <p:nvPicPr>
          <p:cNvPr id="432" name="Google Shape;43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0150" y="648650"/>
            <a:ext cx="6349025" cy="326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6"/>
          <p:cNvSpPr txBox="1"/>
          <p:nvPr>
            <p:ph idx="1" type="subTitle"/>
          </p:nvPr>
        </p:nvSpPr>
        <p:spPr>
          <a:xfrm>
            <a:off x="228600" y="164350"/>
            <a:ext cx="72960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CNNs vs. Vision Transformers</a:t>
            </a:r>
            <a:endParaRPr/>
          </a:p>
        </p:txBody>
      </p:sp>
      <p:pic>
        <p:nvPicPr>
          <p:cNvPr id="439" name="Google Shape;43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88" y="743575"/>
            <a:ext cx="8399427" cy="378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5" name="Google Shape;445;p67"/>
          <p:cNvSpPr txBox="1"/>
          <p:nvPr>
            <p:ph type="title"/>
          </p:nvPr>
        </p:nvSpPr>
        <p:spPr>
          <a:xfrm>
            <a:off x="228600" y="2236650"/>
            <a:ext cx="39237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Convolutional Nearest Neighbor</a:t>
            </a:r>
            <a:endParaRPr sz="3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(ConvNN)</a:t>
            </a:r>
            <a:endParaRPr sz="3000"/>
          </a:p>
        </p:txBody>
      </p:sp>
      <p:sp>
        <p:nvSpPr>
          <p:cNvPr id="446" name="Google Shape;446;p67"/>
          <p:cNvSpPr txBox="1"/>
          <p:nvPr>
            <p:ph idx="1" type="subTitle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Unified Framework that formalizes </a:t>
            </a:r>
            <a:r>
              <a:rPr lang="en"/>
              <a:t>the connection between convolution and attention through the </a:t>
            </a:r>
            <a:r>
              <a:rPr b="1" lang="en"/>
              <a:t>k-nearest neighbors </a:t>
            </a:r>
            <a:r>
              <a:rPr lang="en"/>
              <a:t>principle from machine learning.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7"/>
          <p:cNvSpPr txBox="1"/>
          <p:nvPr>
            <p:ph idx="2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68"/>
          <p:cNvSpPr txBox="1"/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ConvNN Framework</a:t>
            </a:r>
            <a:endParaRPr/>
          </a:p>
        </p:txBody>
      </p:sp>
      <p:sp>
        <p:nvSpPr>
          <p:cNvPr id="454" name="Google Shape;454;p68"/>
          <p:cNvSpPr txBox="1"/>
          <p:nvPr>
            <p:ph idx="1" type="body"/>
          </p:nvPr>
        </p:nvSpPr>
        <p:spPr>
          <a:xfrm>
            <a:off x="229450" y="2541955"/>
            <a:ext cx="28341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How do we measure similarity between pixels (features)?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Similarity Metrics: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Cosine Similarity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Euclidean </a:t>
            </a:r>
            <a:r>
              <a:rPr lang="en" sz="1100"/>
              <a:t>distance</a:t>
            </a:r>
            <a:r>
              <a:rPr lang="en" sz="1100"/>
              <a:t>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Dot product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Operation: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Convolution: Spatial proximity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Attention: Feature similarity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55" name="Google Shape;455;p68"/>
          <p:cNvSpPr txBox="1"/>
          <p:nvPr>
            <p:ph idx="2" type="subTitle"/>
          </p:nvPr>
        </p:nvSpPr>
        <p:spPr>
          <a:xfrm>
            <a:off x="229450" y="21372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Similarity Computation</a:t>
            </a:r>
            <a:endParaRPr sz="1500"/>
          </a:p>
        </p:txBody>
      </p:sp>
      <p:sp>
        <p:nvSpPr>
          <p:cNvPr id="456" name="Google Shape;456;p68"/>
          <p:cNvSpPr txBox="1"/>
          <p:nvPr>
            <p:ph idx="3" type="body"/>
          </p:nvPr>
        </p:nvSpPr>
        <p:spPr>
          <a:xfrm>
            <a:off x="3155800" y="2541955"/>
            <a:ext cx="28341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How do we identify the most relevant neighbors?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Selection Process: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Compute S = XX^T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k</a:t>
            </a:r>
            <a:r>
              <a:rPr lang="en" sz="1100"/>
              <a:t>-max: top-k scores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k</a:t>
            </a:r>
            <a:r>
              <a:rPr lang="en" sz="1100"/>
              <a:t>-argmax: top-k indices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Result: k neighbors per pixel across all positions.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57" name="Google Shape;457;p68"/>
          <p:cNvSpPr txBox="1"/>
          <p:nvPr>
            <p:ph idx="4" type="subTitle"/>
          </p:nvPr>
        </p:nvSpPr>
        <p:spPr>
          <a:xfrm>
            <a:off x="3155800" y="21372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Neighbor Selection</a:t>
            </a:r>
            <a:endParaRPr sz="1500"/>
          </a:p>
        </p:txBody>
      </p:sp>
      <p:sp>
        <p:nvSpPr>
          <p:cNvPr id="458" name="Google Shape;458;p68"/>
          <p:cNvSpPr txBox="1"/>
          <p:nvPr>
            <p:ph idx="5" type="body"/>
          </p:nvPr>
        </p:nvSpPr>
        <p:spPr>
          <a:xfrm>
            <a:off x="6082150" y="2541955"/>
            <a:ext cx="2834100" cy="1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How do we aggregate information from selected neighbors?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 sz="1100"/>
              <a:t>Aggregation Options: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Standard Convolution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Depthwise Convolution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Depthwise-Separable Convolution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Applied to concatenated neighborhood matrices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(stride = k, kernel = k)</a:t>
            </a:r>
            <a:endParaRPr sz="1100"/>
          </a:p>
        </p:txBody>
      </p:sp>
      <p:sp>
        <p:nvSpPr>
          <p:cNvPr id="459" name="Google Shape;459;p68"/>
          <p:cNvSpPr txBox="1"/>
          <p:nvPr>
            <p:ph idx="6" type="subTitle"/>
          </p:nvPr>
        </p:nvSpPr>
        <p:spPr>
          <a:xfrm>
            <a:off x="6082150" y="2137250"/>
            <a:ext cx="2834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Weighted Aggregation</a:t>
            </a:r>
            <a:endParaRPr sz="1500"/>
          </a:p>
        </p:txBody>
      </p:sp>
      <p:sp>
        <p:nvSpPr>
          <p:cNvPr id="460" name="Google Shape;460;p68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1" name="Google Shape;461;p68"/>
          <p:cNvGrpSpPr/>
          <p:nvPr/>
        </p:nvGrpSpPr>
        <p:grpSpPr>
          <a:xfrm>
            <a:off x="228600" y="725336"/>
            <a:ext cx="2834950" cy="1281491"/>
            <a:chOff x="228600" y="1588750"/>
            <a:chExt cx="2834950" cy="1459225"/>
          </a:xfrm>
        </p:grpSpPr>
        <p:sp>
          <p:nvSpPr>
            <p:cNvPr id="462" name="Google Shape;462;p68"/>
            <p:cNvSpPr txBox="1"/>
            <p:nvPr/>
          </p:nvSpPr>
          <p:spPr>
            <a:xfrm>
              <a:off x="229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01</a:t>
              </a:r>
              <a:endParaRPr sz="85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63" name="Google Shape;463;p68"/>
            <p:cNvCxnSpPr/>
            <p:nvPr/>
          </p:nvCxnSpPr>
          <p:spPr>
            <a:xfrm>
              <a:off x="22860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68"/>
            <p:cNvCxnSpPr/>
            <p:nvPr/>
          </p:nvCxnSpPr>
          <p:spPr>
            <a:xfrm>
              <a:off x="22860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5" name="Google Shape;465;p68"/>
          <p:cNvGrpSpPr/>
          <p:nvPr/>
        </p:nvGrpSpPr>
        <p:grpSpPr>
          <a:xfrm>
            <a:off x="3154950" y="725340"/>
            <a:ext cx="2834100" cy="1281491"/>
            <a:chOff x="3154950" y="1588750"/>
            <a:chExt cx="2834100" cy="1459225"/>
          </a:xfrm>
        </p:grpSpPr>
        <p:sp>
          <p:nvSpPr>
            <p:cNvPr id="466" name="Google Shape;466;p68"/>
            <p:cNvSpPr txBox="1"/>
            <p:nvPr/>
          </p:nvSpPr>
          <p:spPr>
            <a:xfrm>
              <a:off x="31549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02</a:t>
              </a:r>
              <a:endParaRPr sz="85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67" name="Google Shape;467;p68"/>
            <p:cNvCxnSpPr/>
            <p:nvPr/>
          </p:nvCxnSpPr>
          <p:spPr>
            <a:xfrm>
              <a:off x="315495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8" name="Google Shape;468;p68"/>
            <p:cNvCxnSpPr/>
            <p:nvPr/>
          </p:nvCxnSpPr>
          <p:spPr>
            <a:xfrm>
              <a:off x="315495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9" name="Google Shape;469;p68"/>
          <p:cNvGrpSpPr/>
          <p:nvPr/>
        </p:nvGrpSpPr>
        <p:grpSpPr>
          <a:xfrm>
            <a:off x="6080450" y="725367"/>
            <a:ext cx="2834100" cy="1281491"/>
            <a:chOff x="6080450" y="1588750"/>
            <a:chExt cx="2834100" cy="1459225"/>
          </a:xfrm>
        </p:grpSpPr>
        <p:sp>
          <p:nvSpPr>
            <p:cNvPr id="470" name="Google Shape;470;p68"/>
            <p:cNvSpPr txBox="1"/>
            <p:nvPr/>
          </p:nvSpPr>
          <p:spPr>
            <a:xfrm>
              <a:off x="6080450" y="1588750"/>
              <a:ext cx="2834100" cy="14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0">
                  <a:solidFill>
                    <a:schemeClr val="dk1"/>
                  </a:solidFill>
                  <a:latin typeface="Gowun Batang"/>
                  <a:ea typeface="Gowun Batang"/>
                  <a:cs typeface="Gowun Batang"/>
                  <a:sym typeface="Gowun Batang"/>
                </a:rPr>
                <a:t>03</a:t>
              </a:r>
              <a:endParaRPr sz="8500">
                <a:solidFill>
                  <a:schemeClr val="dk1"/>
                </a:solidFill>
                <a:latin typeface="Gowun Batang"/>
                <a:ea typeface="Gowun Batang"/>
                <a:cs typeface="Gowun Batang"/>
                <a:sym typeface="Gowun Batang"/>
              </a:endParaRPr>
            </a:p>
          </p:txBody>
        </p:sp>
        <p:cxnSp>
          <p:nvCxnSpPr>
            <p:cNvPr id="471" name="Google Shape;471;p68"/>
            <p:cNvCxnSpPr/>
            <p:nvPr/>
          </p:nvCxnSpPr>
          <p:spPr>
            <a:xfrm>
              <a:off x="6080450" y="3047975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68"/>
            <p:cNvCxnSpPr/>
            <p:nvPr/>
          </p:nvCxnSpPr>
          <p:spPr>
            <a:xfrm>
              <a:off x="6080450" y="1687250"/>
              <a:ext cx="2834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69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ConvNN Visualized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9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</p:txBody>
      </p:sp>
      <p:pic>
        <p:nvPicPr>
          <p:cNvPr id="480" name="Google Shape;48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913" y="760625"/>
            <a:ext cx="8315884" cy="39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9"/>
          <p:cNvSpPr txBox="1"/>
          <p:nvPr>
            <p:ph idx="4294967295" type="body"/>
          </p:nvPr>
        </p:nvSpPr>
        <p:spPr>
          <a:xfrm>
            <a:off x="6888925" y="4062625"/>
            <a:ext cx="19143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*Channel dimensions are omitted in diagram for visual clarity.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70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lang="en"/>
              <a:t>Sparse Neighbor Search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</p:txBody>
      </p:sp>
      <p:sp>
        <p:nvSpPr>
          <p:cNvPr id="489" name="Google Shape;489;p70"/>
          <p:cNvSpPr txBox="1"/>
          <p:nvPr>
            <p:ph idx="4294967295" type="body"/>
          </p:nvPr>
        </p:nvSpPr>
        <p:spPr>
          <a:xfrm>
            <a:off x="316675" y="3868425"/>
            <a:ext cx="22911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k-NN search complexity: </a:t>
            </a:r>
            <a:endParaRPr sz="1400"/>
          </a:p>
        </p:txBody>
      </p:sp>
      <p:pic>
        <p:nvPicPr>
          <p:cNvPr id="490" name="Google Shape;4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4950" y="3881884"/>
            <a:ext cx="32004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288" y="957450"/>
            <a:ext cx="8537426" cy="27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7" name="Google Shape;497;p71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of Convolution</a:t>
            </a:r>
            <a:endParaRPr/>
          </a:p>
        </p:txBody>
      </p:sp>
      <p:sp>
        <p:nvSpPr>
          <p:cNvPr id="498" name="Google Shape;498;p7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71"/>
          <p:cNvSpPr txBox="1"/>
          <p:nvPr>
            <p:ph idx="4294967295" type="subTitle"/>
          </p:nvPr>
        </p:nvSpPr>
        <p:spPr>
          <a:xfrm>
            <a:off x="229450" y="1014250"/>
            <a:ext cx="31821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Traditional Convolution</a:t>
            </a:r>
            <a:endParaRPr b="1"/>
          </a:p>
        </p:txBody>
      </p:sp>
      <p:sp>
        <p:nvSpPr>
          <p:cNvPr id="500" name="Google Shape;500;p71"/>
          <p:cNvSpPr txBox="1"/>
          <p:nvPr>
            <p:ph idx="4294967295" type="subTitle"/>
          </p:nvPr>
        </p:nvSpPr>
        <p:spPr>
          <a:xfrm>
            <a:off x="4572000" y="1014250"/>
            <a:ext cx="28341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ConvNN</a:t>
            </a:r>
            <a:endParaRPr b="1"/>
          </a:p>
        </p:txBody>
      </p:sp>
      <p:pic>
        <p:nvPicPr>
          <p:cNvPr id="501" name="Google Shape;501;p71" title="CodeCogsEq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146780"/>
            <a:ext cx="245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71" title="CodeCogsEqn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450" y="2651350"/>
            <a:ext cx="30384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71" title="CodeCogsEqn-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450" y="3246663"/>
            <a:ext cx="18859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71" title="CodeCogsEqn-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450" y="3730475"/>
            <a:ext cx="3552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71" title="CodeCogsEq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450" y="1581213"/>
            <a:ext cx="22479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71" title="CodeCogsEq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1" y="2113918"/>
            <a:ext cx="245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71" title="CodeCogsEqn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607970"/>
            <a:ext cx="303847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71" title="CodeCogsEqn-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226413"/>
            <a:ext cx="18859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71" title="CodeCogsEqn-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3730475"/>
            <a:ext cx="3552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71" title="CodeCogsEq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2000" y="1624075"/>
            <a:ext cx="1381125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72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Generalization of 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2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72"/>
          <p:cNvSpPr txBox="1"/>
          <p:nvPr>
            <p:ph idx="4294967295" type="subTitle"/>
          </p:nvPr>
        </p:nvSpPr>
        <p:spPr>
          <a:xfrm>
            <a:off x="228600" y="864675"/>
            <a:ext cx="28341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ConvNN-Attention</a:t>
            </a:r>
            <a:endParaRPr b="1"/>
          </a:p>
        </p:txBody>
      </p:sp>
      <p:sp>
        <p:nvSpPr>
          <p:cNvPr id="519" name="Google Shape;519;p72"/>
          <p:cNvSpPr txBox="1"/>
          <p:nvPr>
            <p:ph idx="4294967295" type="subTitle"/>
          </p:nvPr>
        </p:nvSpPr>
        <p:spPr>
          <a:xfrm>
            <a:off x="4572000" y="864675"/>
            <a:ext cx="28341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Self-Attention</a:t>
            </a:r>
            <a:endParaRPr b="1"/>
          </a:p>
        </p:txBody>
      </p:sp>
      <p:pic>
        <p:nvPicPr>
          <p:cNvPr id="520" name="Google Shape;520;p72" title="CodeCogsEq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134" y="1661023"/>
            <a:ext cx="1081036" cy="2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72" title="CodeCogsEqn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2" y="1972012"/>
            <a:ext cx="1978058" cy="268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72" title="CodeCogsEqn-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0134" y="2319815"/>
            <a:ext cx="1640721" cy="26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72" title="CodeCogsEqn-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450" y="2640891"/>
            <a:ext cx="3409950" cy="31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72" title="CodeCogsEqn-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450" y="3029137"/>
            <a:ext cx="1518051" cy="28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72" title="CodeCogsEqn-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450" y="3368682"/>
            <a:ext cx="3832075" cy="32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72" title="CodeCogsEq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9450" y="1286007"/>
            <a:ext cx="3507100" cy="2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2" title="CodeCogsEqn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2" y="1592047"/>
            <a:ext cx="1081032" cy="28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72" title="CodeCogsEqn-4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32551" y="3937737"/>
            <a:ext cx="3488848" cy="7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72" title="CodeCogsEqn-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134" y="1994013"/>
            <a:ext cx="1978066" cy="268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72" title="CodeCogsEqn-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2" y="2286609"/>
            <a:ext cx="1640715" cy="268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72" title="CodeCogsEqn-7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72002" y="2638076"/>
            <a:ext cx="3409948" cy="276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2" title="CodeCogsEqn-8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72002" y="2928029"/>
            <a:ext cx="1357040" cy="322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72" title="CodeCogsEqn-9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72000" y="3398032"/>
            <a:ext cx="4162375" cy="2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72" title="CodeCogsEq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2000" y="1241607"/>
            <a:ext cx="3557275" cy="25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73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https://www.cs.toronto.edu/~kriz/cifar.html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73"/>
          <p:cNvSpPr txBox="1"/>
          <p:nvPr>
            <p:ph idx="3" type="body"/>
          </p:nvPr>
        </p:nvSpPr>
        <p:spPr>
          <a:xfrm>
            <a:off x="228600" y="837650"/>
            <a:ext cx="3677400" cy="30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/>
              <a:t>Datasets: </a:t>
            </a:r>
            <a:r>
              <a:rPr lang="en" sz="1100"/>
              <a:t>CIFAR-10 and CIFAR-100 (Krizhevsky et al., 2009)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60,000 images (32x32 RGB)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10 classes (CIFAR-10) / 100 classes (CIFAR-100)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Train/test split: 50,000 / 10,000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 sz="1100"/>
              <a:t>No data augmentation </a:t>
            </a:r>
            <a:r>
              <a:rPr lang="en" sz="1100"/>
              <a:t>to ensure fair baseline comparison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Architectures: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 sz="1100"/>
              <a:t>VGG-11</a:t>
            </a:r>
            <a:r>
              <a:rPr lang="en" sz="1100"/>
              <a:t>: Convolutional Baseline (32x32 RGB)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b="1" lang="en" sz="1100"/>
              <a:t>ViT-Tiny: </a:t>
            </a:r>
            <a:r>
              <a:rPr lang="en" sz="1100"/>
              <a:t>Transformer Baseline (224x224 RGB)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</p:txBody>
      </p:sp>
      <p:pic>
        <p:nvPicPr>
          <p:cNvPr id="543" name="Google Shape;54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2926" y="697312"/>
            <a:ext cx="4792700" cy="37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4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9" name="Google Shape;549;p74"/>
          <p:cNvSpPr txBox="1"/>
          <p:nvPr>
            <p:ph idx="3" type="body"/>
          </p:nvPr>
        </p:nvSpPr>
        <p:spPr>
          <a:xfrm>
            <a:off x="228600" y="4679000"/>
            <a:ext cx="63861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https://medium.com/@siddheshb008/vgg-net-architecture-explained-71179310050f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4"/>
          <p:cNvSpPr txBox="1"/>
          <p:nvPr>
            <p:ph idx="4" type="body"/>
          </p:nvPr>
        </p:nvSpPr>
        <p:spPr>
          <a:xfrm>
            <a:off x="228600" y="892023"/>
            <a:ext cx="2471400" cy="3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/>
              <a:t>VGG-11 Architecture </a:t>
            </a:r>
            <a:r>
              <a:rPr lang="en" sz="1100"/>
              <a:t>(Simonyan &amp; Zisserman, 2015)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i="1" lang="en" sz="1100"/>
              <a:t>Standard Architecture: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Stacked convolutional layers with ReLU activation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Max pooling for spatial downsampling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Fully connected layers for classification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Our Modification: </a:t>
            </a:r>
            <a:endParaRPr i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Replace standard Conv2D layers with </a:t>
            </a:r>
            <a:r>
              <a:rPr b="1" lang="en" sz="1100"/>
              <a:t>ConvNN </a:t>
            </a:r>
            <a:r>
              <a:rPr lang="en" sz="1100"/>
              <a:t>or </a:t>
            </a:r>
            <a:r>
              <a:rPr b="1" lang="en" sz="1100"/>
              <a:t>Hybrid Branching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*Diagram is VGG-16 instead of VGG-11 </a:t>
            </a:r>
            <a:endParaRPr sz="1100"/>
          </a:p>
        </p:txBody>
      </p:sp>
      <p:pic>
        <p:nvPicPr>
          <p:cNvPr id="551" name="Google Shape;55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775" y="705485"/>
            <a:ext cx="6083574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74"/>
          <p:cNvSpPr txBox="1"/>
          <p:nvPr>
            <p:ph idx="1" type="subTitle"/>
          </p:nvPr>
        </p:nvSpPr>
        <p:spPr>
          <a:xfrm>
            <a:off x="228600" y="164350"/>
            <a:ext cx="71982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600"/>
              <a:t>VGG Architecture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5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5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VGG-11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75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0" name="Google Shape;56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275" y="854593"/>
            <a:ext cx="4001126" cy="376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425" y="854605"/>
            <a:ext cx="4620699" cy="3092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75"/>
          <p:cNvSpPr txBox="1"/>
          <p:nvPr>
            <p:ph idx="4294967295" type="body"/>
          </p:nvPr>
        </p:nvSpPr>
        <p:spPr>
          <a:xfrm>
            <a:off x="158425" y="4079680"/>
            <a:ext cx="43434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Conv2D: Kernel Size = 3 (3x3)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ConvNN: K = 9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6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76"/>
          <p:cNvSpPr txBox="1"/>
          <p:nvPr>
            <p:ph idx="1" type="subTitle"/>
          </p:nvPr>
        </p:nvSpPr>
        <p:spPr>
          <a:xfrm>
            <a:off x="228600" y="164350"/>
            <a:ext cx="8636100" cy="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sz="3600"/>
              <a:t>Vision Transformers</a:t>
            </a:r>
            <a:endParaRPr sz="3600"/>
          </a:p>
        </p:txBody>
      </p:sp>
      <p:sp>
        <p:nvSpPr>
          <p:cNvPr id="569" name="Google Shape;569;p76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https://medium.com/@RobuRishabh/vision-transformer-vit-39f627d04b2a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76"/>
          <p:cNvSpPr txBox="1"/>
          <p:nvPr>
            <p:ph idx="4" type="body"/>
          </p:nvPr>
        </p:nvSpPr>
        <p:spPr>
          <a:xfrm>
            <a:off x="228600" y="788740"/>
            <a:ext cx="2435400" cy="38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" sz="1100"/>
              <a:t>Vision Transformers (ViT) </a:t>
            </a:r>
            <a:r>
              <a:rPr lang="en" sz="1100"/>
              <a:t>(Dosovitskiy et al., 2021)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i="1" lang="en" sz="1100"/>
              <a:t>Architecture Overview: </a:t>
            </a:r>
            <a:endParaRPr i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Images are divided into fixed-size patches (16x16)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Applied self-attention directly to image patches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Patches are linearly embedded and fed to Transformer encoder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Multi-Head attention captures global dependencies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/>
              <a:t>Our Experiments: </a:t>
            </a:r>
            <a:endParaRPr i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Replace multi-head attention with </a:t>
            </a:r>
            <a:r>
              <a:rPr b="1" lang="en" sz="1100"/>
              <a:t>ConvNN-Attention</a:t>
            </a:r>
            <a:endParaRPr sz="1100"/>
          </a:p>
        </p:txBody>
      </p:sp>
      <p:pic>
        <p:nvPicPr>
          <p:cNvPr id="571" name="Google Shape;57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6875" y="788740"/>
            <a:ext cx="6158527" cy="343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7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7" name="Google Shape;577;p77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ViT-Tiny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77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9" name="Google Shape;57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87784"/>
            <a:ext cx="3918925" cy="244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337099"/>
            <a:ext cx="3918925" cy="1224661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77"/>
          <p:cNvSpPr txBox="1"/>
          <p:nvPr>
            <p:ph idx="4294967295" type="body"/>
          </p:nvPr>
        </p:nvSpPr>
        <p:spPr>
          <a:xfrm>
            <a:off x="4236425" y="4062684"/>
            <a:ext cx="47679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ConvNN: K = 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Sampling: r = r’ = 32</a:t>
            </a:r>
            <a:endParaRPr/>
          </a:p>
        </p:txBody>
      </p:sp>
      <p:pic>
        <p:nvPicPr>
          <p:cNvPr id="582" name="Google Shape;582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6425" y="887784"/>
            <a:ext cx="4767877" cy="2979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8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78"/>
          <p:cNvSpPr txBox="1"/>
          <p:nvPr>
            <p:ph type="title"/>
          </p:nvPr>
        </p:nvSpPr>
        <p:spPr>
          <a:xfrm>
            <a:off x="229450" y="164350"/>
            <a:ext cx="8686800" cy="8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ViT-Tiny 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8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25650"/>
            <a:ext cx="8839200" cy="30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78"/>
          <p:cNvSpPr txBox="1"/>
          <p:nvPr>
            <p:ph idx="4294967295" type="body"/>
          </p:nvPr>
        </p:nvSpPr>
        <p:spPr>
          <a:xfrm>
            <a:off x="152400" y="4042400"/>
            <a:ext cx="47679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ConvNN: K = 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Sampling: r = r’ = 32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9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7" name="Google Shape;597;p79"/>
          <p:cNvSpPr txBox="1"/>
          <p:nvPr>
            <p:ph type="title"/>
          </p:nvPr>
        </p:nvSpPr>
        <p:spPr>
          <a:xfrm>
            <a:off x="228600" y="199800"/>
            <a:ext cx="86868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Future Work</a:t>
            </a:r>
            <a:endParaRPr sz="3900"/>
          </a:p>
        </p:txBody>
      </p:sp>
      <p:sp>
        <p:nvSpPr>
          <p:cNvPr id="598" name="Google Shape;598;p79"/>
          <p:cNvSpPr txBox="1"/>
          <p:nvPr>
            <p:ph idx="5" type="subTitle"/>
          </p:nvPr>
        </p:nvSpPr>
        <p:spPr>
          <a:xfrm>
            <a:off x="4572000" y="1074300"/>
            <a:ext cx="4197000" cy="14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Scaling Experiments: </a:t>
            </a:r>
            <a:r>
              <a:rPr lang="en" sz="1800"/>
              <a:t>Extend experiments and evaluations to ImageNet-1K and other large-scale benchmarks.</a:t>
            </a:r>
            <a:endParaRPr sz="1800"/>
          </a:p>
        </p:txBody>
      </p:sp>
      <p:sp>
        <p:nvSpPr>
          <p:cNvPr id="599" name="Google Shape;599;p79"/>
          <p:cNvSpPr txBox="1"/>
          <p:nvPr>
            <p:ph idx="6" type="subTitle"/>
          </p:nvPr>
        </p:nvSpPr>
        <p:spPr>
          <a:xfrm>
            <a:off x="228600" y="1074300"/>
            <a:ext cx="4061100" cy="14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Architectural Analysis</a:t>
            </a:r>
            <a:r>
              <a:rPr lang="en" sz="1800"/>
              <a:t>: Compare how CNN’s and Transformer’s architectural components contribute to feature learning. </a:t>
            </a:r>
            <a:endParaRPr sz="1800"/>
          </a:p>
        </p:txBody>
      </p:sp>
      <p:sp>
        <p:nvSpPr>
          <p:cNvPr id="600" name="Google Shape;600;p79"/>
          <p:cNvSpPr txBox="1"/>
          <p:nvPr>
            <p:ph idx="7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79"/>
          <p:cNvSpPr txBox="1"/>
          <p:nvPr>
            <p:ph idx="5" type="subTitle"/>
          </p:nvPr>
        </p:nvSpPr>
        <p:spPr>
          <a:xfrm>
            <a:off x="228600" y="2571900"/>
            <a:ext cx="4061100" cy="14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Publication</a:t>
            </a:r>
            <a:r>
              <a:rPr lang="en" sz="1800"/>
              <a:t>: Revise and resubmit based on conference feedback (reviews expected late January). </a:t>
            </a:r>
            <a:endParaRPr sz="1800"/>
          </a:p>
        </p:txBody>
      </p:sp>
      <p:sp>
        <p:nvSpPr>
          <p:cNvPr id="602" name="Google Shape;602;p79"/>
          <p:cNvSpPr txBox="1"/>
          <p:nvPr>
            <p:ph idx="5" type="subTitle"/>
          </p:nvPr>
        </p:nvSpPr>
        <p:spPr>
          <a:xfrm>
            <a:off x="4639950" y="2571900"/>
            <a:ext cx="4061100" cy="14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Theoretical Work</a:t>
            </a:r>
            <a:r>
              <a:rPr lang="en" sz="1800"/>
              <a:t>: Develop mathematical proof of ConvNN’s generalizability framework. 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0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8" name="Google Shape;608;p80"/>
          <p:cNvSpPr txBox="1"/>
          <p:nvPr>
            <p:ph type="title"/>
          </p:nvPr>
        </p:nvSpPr>
        <p:spPr>
          <a:xfrm>
            <a:off x="433350" y="2089788"/>
            <a:ext cx="3933900" cy="6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Paper:</a:t>
            </a:r>
            <a:endParaRPr/>
          </a:p>
        </p:txBody>
      </p:sp>
      <p:sp>
        <p:nvSpPr>
          <p:cNvPr id="609" name="Google Shape;609;p80"/>
          <p:cNvSpPr txBox="1"/>
          <p:nvPr>
            <p:ph idx="1" type="subTitle"/>
          </p:nvPr>
        </p:nvSpPr>
        <p:spPr>
          <a:xfrm>
            <a:off x="433350" y="2760000"/>
            <a:ext cx="4343400" cy="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https://arxiv.org/abs/2511.14137</a:t>
            </a:r>
            <a:r>
              <a:rPr lang="en"/>
              <a:t> </a:t>
            </a:r>
            <a:endParaRPr/>
          </a:p>
        </p:txBody>
      </p:sp>
      <p:sp>
        <p:nvSpPr>
          <p:cNvPr id="610" name="Google Shape;610;p80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4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6950" y="813637"/>
            <a:ext cx="3516223" cy="3516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1"/>
          <p:cNvSpPr txBox="1"/>
          <p:nvPr>
            <p:ph idx="3" type="body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lang="en"/>
              <a:t>Mingi Kang </a:t>
            </a:r>
            <a:r>
              <a:rPr lang="en" u="sng">
                <a:solidFill>
                  <a:schemeClr val="hlink"/>
                </a:solidFill>
                <a:hlinkClick r:id="rId3"/>
              </a:rPr>
              <a:t>mkang2@bowdoin.edu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81"/>
          <p:cNvSpPr txBox="1"/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18" name="Google Shape;618;p81"/>
          <p:cNvSpPr txBox="1"/>
          <p:nvPr>
            <p:ph idx="12" type="sldNum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133817"/>
      </a:dk1>
      <a:lt1>
        <a:srgbClr val="E9EBE8"/>
      </a:lt1>
      <a:dk2>
        <a:srgbClr val="C2C7C0"/>
      </a:dk2>
      <a:lt2>
        <a:srgbClr val="EE7630"/>
      </a:lt2>
      <a:accent1>
        <a:srgbClr val="000000"/>
      </a:accent1>
      <a:accent2>
        <a:srgbClr val="931F1D"/>
      </a:accent2>
      <a:accent3>
        <a:srgbClr val="4F7CAC"/>
      </a:accent3>
      <a:accent4>
        <a:srgbClr val="C287E8"/>
      </a:accent4>
      <a:accent5>
        <a:srgbClr val="563635"/>
      </a:accent5>
      <a:accent6>
        <a:srgbClr val="63A46C"/>
      </a:accent6>
      <a:hlink>
        <a:srgbClr val="B74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